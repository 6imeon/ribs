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Land Ledger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London has already said yes to building — and where nothing has happened since.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251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AC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Simeon · Marco · Jolene · Nadya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planning.data.gov.uk · London Plan 2021 · WhereToBuild (CAGE, Warwick)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needs housing. It isn't the finding of land or permission that's stuck.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23774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9M+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London's population, 2024 — a first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194560"/>
            <a:ext cx="2606040" cy="23774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979/982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66160" y="33375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neighbourhoods where demand outstrips supply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2606040" cy="23774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2,554 ha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33375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brownfield land already permitted, not started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2194560"/>
            <a:ext cx="2606040" cy="23774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35440" y="33375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London's 10-year housing target sitting idle on that land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tool shows where that stalled capacity is concentrated — or how it lines up against where demand is highest.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Land Ledger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map and borough scorecard combining three sources: the national brownfield land register, each borough's ten-year London Plan target, and WhereToBuild demand-pressure data.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749808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474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Brownfield register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3474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planning.data.gov.uk · 5,185 live London sites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749808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Plan 2021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4434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ten-year housing target, per borough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303520"/>
            <a:ext cx="749808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394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WhereToBuild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5394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pressure · Warwick CAGE, restricted use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1737360"/>
            <a:ext cx="3200400" cy="4434840"/>
          </a:xfrm>
          <a:prstGeom prst="rect">
            <a:avLst/>
          </a:prstGeom>
          <a:solidFill>
            <a:srgbClr val="26215C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30175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171,800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95360" y="37490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homes' worth of stalled, permitted capacity across London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councillor opens the tool and knows what to point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EEEDF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spot their highest-priority sites, their problem projects, and the brownfield opportunities worth advocating for next — and see how their borough compares to similarly-pressured ones.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Councillors &amp; policy campaigners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35661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 specific site or borough to point to — not just a citywide statistic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consultants &amp; developers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44805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scouting where approved, ready-to-build land already exists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 &amp; researchers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53949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 sourced, auditable trail — not a headline number with nothing behind 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views: the findings, the priority index, the 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47288" cy="23774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overall picture from the data — where demand meets stalled permission, and unstarted permitted capacity as a share of the ten-year target.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78808" y="1783080"/>
            <a:ext cx="3447288" cy="23774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8" name="Text 6"/>
          <p:cNvSpPr/>
          <p:nvPr/>
        </p:nvSpPr>
        <p:spPr>
          <a:xfrm>
            <a:off x="4407408" y="19659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index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07408" y="2468880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boroughs on three signals — stalled capacity vs. target, demand pressure, and absolute homes held up — to show where the opportunity is biggest.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08976" y="1783080"/>
            <a:ext cx="3447288" cy="23774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11" name="Text 9"/>
          <p:cNvSpPr/>
          <p:nvPr/>
        </p:nvSpPr>
        <p:spPr>
          <a:xfrm>
            <a:off x="8037576" y="19659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37576" y="2468880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brownfield site, layered by status: permitted not started, identified but not yet permitted, deliverable within 5 years, publicly owned — plus demand pressure and the opportunity index.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0881360" cy="1371600"/>
          </a:xfrm>
          <a:prstGeom prst="rect">
            <a:avLst/>
          </a:prstGeom>
          <a:solidFill>
            <a:srgbClr val="2621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177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C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All three at once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Boroughs genuinely strong on stalled capacity, demand, and volume — all three at once — get a distinct flag on the priority index and the map, separating ‘worth a look’ from ‘top of the agenda’.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tells you where it's biggest. Scarcity tells you where it feels worst.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55448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stalled homes, absolute demand pressure — where the problem is largest in real numbers.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212080" cy="155448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Scarcity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Benchmarked against the London median — where the shortfall feels most acute relative to a typical area.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“[Place]’s shortfall is about 3× a typical London area of the same size.”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borough, get the plain-English read — no number-interpreting required.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621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54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median, not the mean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1206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extreme outlier — the City of London, a single small area in central London — would skew the average and make everywhere else look worse than it really 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wrote a validation spec and ran it against our own codebase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291840" cy="292608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68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passed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2103120"/>
            <a:ext cx="3291840" cy="2926080"/>
          </a:xfrm>
          <a:prstGeom prst="rect">
            <a:avLst/>
          </a:prstGeom>
          <a:solidFill>
            <a:srgbClr val="26215C"/>
          </a:solidFill>
          <a:ln/>
        </p:spPr>
      </p:sp>
      <p:sp>
        <p:nvSpPr>
          <p:cNvPr id="8" name="Text 6"/>
          <p:cNvSpPr/>
          <p:nvPr/>
        </p:nvSpPr>
        <p:spPr>
          <a:xfrm>
            <a:off x="4069080" y="2468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06908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E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failed — and fixed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0" y="22860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the exact City of London outlier issue from the previous slide. We caught our own mistakes before a judge could catch them for us.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datasets, every join and licence on the record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80360" y="1600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492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89320" y="1600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GIVES 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11064240" cy="0"/>
          </a:xfrm>
          <a:prstGeom prst="line">
            <a:avLst/>
          </a:prstGeom>
          <a:noFill/>
          <a:ln w="12700">
            <a:solidFill>
              <a:srgbClr val="D9D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Brownfield land register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80360" y="2011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MHCLG · planning.data.gov.uk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0" y="201168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00253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 v3.0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89320" y="2011680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spine.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site: hectares, the council's own min/max dwelling estimate, permission status and date, ownership, a </a:t>
            </a:r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geometry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authority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80360" y="2788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planning.data.gov.uk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278892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7797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 v3.0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278892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join table.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the register's numeric </a:t>
            </a:r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organisation-entity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an ONS </a:t>
            </a:r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E09*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planning authority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80360" y="33832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planning.data.gov.uk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338328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37413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 v3.0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89320" y="338328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Borough boundary geometry as WKT </a:t>
            </a:r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MULTIPOLYGON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for the choropleth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MSOA11→MSOA21→LAD22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880360" y="3977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 Open Geography Portal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39776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9684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 v3.0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397764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MSOA-level demand data up to borough level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Plan 2021, Table 4.1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880360" y="4572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London Authority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74920" y="457200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56285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 v3.0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9320" y="457200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Ten-year net completion targets, 2019/20–2028/29. The denominator for every “% of target”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166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WhereToBuild MSOA extract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880360" y="51663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CAGE, University of Warwick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74920" y="51663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37A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51572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89320" y="516636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pressure per MSOA: </a:t>
            </a:r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gap_per_km2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tightness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D9D7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fully cached and reproducible · every cleaning decision logged to an auditable CSV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6318504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Single-page Leaflet app · works offline except basemap tiles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664768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index 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Percentile-ranked, two-tier scoring — continuous score plus a stricter all-three-high flag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2026-08-01T15:51:41Z</dcterms:created>
  <dcterms:modified xsi:type="dcterms:W3CDTF">2026-08-01T15:51:41Z</dcterms:modified>
</cp:coreProperties>
</file>